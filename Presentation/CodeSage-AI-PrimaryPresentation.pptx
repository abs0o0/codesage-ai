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64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502920"/>
            <a:ext cx="11109960" cy="5623560"/>
          </a:xfrm>
          <a:prstGeom prst="rect">
            <a:avLst/>
          </a:prstGeom>
          <a:solidFill>
            <a:srgbClr val="15161D">
              <a:alpha val="92000"/>
            </a:srgbClr>
          </a:solidFill>
          <a:ln w="12700">
            <a:solidFill>
              <a:srgbClr val="2E303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502920"/>
            <a:ext cx="73152" cy="56235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234440"/>
            <a:ext cx="4526280" cy="2971800"/>
          </a:xfrm>
          <a:prstGeom prst="roundRect">
            <a:avLst>
              <a:gd name="adj" fmla="val 3692"/>
            </a:avLst>
          </a:prstGeom>
          <a:solidFill>
            <a:srgbClr val="1B1C24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data/codesage-ppt/img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160520" cy="22677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60120" y="960120"/>
            <a:ext cx="2331720" cy="310896"/>
          </a:xfrm>
          <a:prstGeom prst="roundRect">
            <a:avLst>
              <a:gd name="adj" fmla="val 20588"/>
            </a:avLst>
          </a:prstGeom>
          <a:solidFill>
            <a:srgbClr val="22232D">
              <a:alpha val="96000"/>
            </a:srgbClr>
          </a:solidFill>
          <a:ln w="12700">
            <a:solidFill>
              <a:srgbClr val="C084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51560" y="1046988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PLATFORM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32688" y="1572768"/>
            <a:ext cx="5440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CodeSage AI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960120" y="25146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9D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AI-Powered Code Review Assistant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60120" y="306324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structured feedback for code quality, bugs, security, refactoring, and documentation — designed for students, developers, and teams.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60120" y="4251960"/>
            <a:ext cx="4160520" cy="0"/>
          </a:xfrm>
          <a:prstGeom prst="line">
            <a:avLst/>
          </a:prstGeom>
          <a:noFill/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60120" y="4462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Ahmed Abdelsalam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0241280" y="58064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CodeSage AI?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7007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reviews source code with specialized AI agents and returns clear, actionable feedback.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242316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120" y="2697480"/>
            <a:ext cx="566928" cy="566928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2839212"/>
            <a:ext cx="283464" cy="2834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9164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91640" y="3035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writes or pastes code and chooses the programming language.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07408" y="242316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54296" y="2697480"/>
            <a:ext cx="566928" cy="566928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2839212"/>
            <a:ext cx="283464" cy="2834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76672" y="2670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Review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376672" y="3035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agents analyze the code from different technical perspectives.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101584" y="242316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348472" y="2697480"/>
            <a:ext cx="566928" cy="566928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2839212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70848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9070848" y="3035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receives a score, issues, explanations, and improved code suggestions.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60120" y="5257800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22232D">
              <a:alpha val="96000"/>
            </a:srgbClr>
          </a:solidFill>
          <a:ln w="12700">
            <a:solidFill>
              <a:srgbClr val="C084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1051560" y="533552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2606040" y="5257800"/>
            <a:ext cx="1737360" cy="310896"/>
          </a:xfrm>
          <a:prstGeom prst="roundRect">
            <a:avLst>
              <a:gd name="adj" fmla="val 20588"/>
            </a:avLst>
          </a:prstGeom>
          <a:solidFill>
            <a:srgbClr val="22232D">
              <a:alpha val="96000"/>
            </a:srgbClr>
          </a:solidFill>
          <a:ln w="12700">
            <a:solidFill>
              <a:srgbClr val="C084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2697480" y="53355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4572000" y="5257800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22232D">
              <a:alpha val="96000"/>
            </a:srgbClr>
          </a:solidFill>
          <a:ln w="12700">
            <a:solidFill>
              <a:srgbClr val="C084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4663440" y="5335524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REVIEW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675120" y="525780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22232D">
              <a:alpha val="96000"/>
            </a:srgbClr>
          </a:solidFill>
          <a:ln w="12700">
            <a:solidFill>
              <a:srgbClr val="C084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766560" y="5335524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LANGUAGES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8275320" y="5257800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22232D">
              <a:alpha val="96000"/>
            </a:srgbClr>
          </a:solidFill>
          <a:ln w="12700">
            <a:solidFill>
              <a:srgbClr val="C084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8366760" y="53355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vs. The Solution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7007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 turns code review from a slow manual process into an instant learning experience.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2148840"/>
            <a:ext cx="5166360" cy="3291840"/>
          </a:xfrm>
          <a:prstGeom prst="roundRect">
            <a:avLst>
              <a:gd name="adj" fmla="val 3333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2148840"/>
            <a:ext cx="516636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4128" y="24871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Pain Points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06324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23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review is slow and depends on reviewer availability</a:t>
            </a:r>
            <a:endParaRPr lang="en-US" sz="1230" dirty="0"/>
          </a:p>
          <a:p>
            <a:pPr>
              <a:spcAft>
                <a:spcPts val="800"/>
              </a:spcAft>
            </a:pPr>
            <a:r>
              <a:rPr lang="en-US" sz="123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often miss bugs, weak structure, and security issues</a:t>
            </a:r>
            <a:endParaRPr lang="en-US" sz="1230" dirty="0"/>
          </a:p>
          <a:p>
            <a:pPr>
              <a:spcAft>
                <a:spcPts val="800"/>
              </a:spcAft>
            </a:pPr>
            <a:r>
              <a:rPr lang="en-US" sz="123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not always clear enough to learn from it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327648" y="2148840"/>
            <a:ext cx="5166360" cy="3291840"/>
          </a:xfrm>
          <a:prstGeom prst="roundRect">
            <a:avLst>
              <a:gd name="adj" fmla="val 3333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27648" y="2148840"/>
            <a:ext cx="5166360" cy="731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38544" y="24871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D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CodeSage Approach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65976" y="306324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23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focused agents review code in seconds</a:t>
            </a:r>
            <a:endParaRPr lang="en-US" sz="1230" dirty="0"/>
          </a:p>
          <a:p>
            <a:pPr>
              <a:spcAft>
                <a:spcPts val="800"/>
              </a:spcAft>
            </a:pPr>
            <a:r>
              <a:rPr lang="en-US" sz="123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explanations help the user understand each issue</a:t>
            </a:r>
            <a:endParaRPr lang="en-US" sz="1230" dirty="0"/>
          </a:p>
          <a:p>
            <a:pPr>
              <a:spcAft>
                <a:spcPts val="800"/>
              </a:spcAft>
            </a:pPr>
            <a:r>
              <a:rPr lang="en-US" sz="123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include quality, security, refactoring, and documentation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7007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feature set focused on speed, clarity, and better coding habits.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2057400"/>
            <a:ext cx="2944368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688" y="2368296"/>
            <a:ext cx="502920" cy="50292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" y="2494026"/>
            <a:ext cx="251460" cy="2514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9344" y="23134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Monaco Editor</a:t>
            </a:r>
            <a:endParaRPr lang="en-US" sz="1370" dirty="0"/>
          </a:p>
        </p:txBody>
      </p:sp>
      <p:sp>
        <p:nvSpPr>
          <p:cNvPr id="17" name="Text 14"/>
          <p:cNvSpPr/>
          <p:nvPr/>
        </p:nvSpPr>
        <p:spPr>
          <a:xfrm>
            <a:off x="1609344" y="26609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in-browser code editor experience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270248" y="2057400"/>
            <a:ext cx="2944368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489704" y="2368296"/>
            <a:ext cx="502920" cy="50292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434" y="2494026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66360" y="23134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Review</a:t>
            </a:r>
            <a:endParaRPr lang="en-US" sz="1370" dirty="0"/>
          </a:p>
        </p:txBody>
      </p:sp>
      <p:sp>
        <p:nvSpPr>
          <p:cNvPr id="22" name="Text 18"/>
          <p:cNvSpPr/>
          <p:nvPr/>
        </p:nvSpPr>
        <p:spPr>
          <a:xfrm>
            <a:off x="5166360" y="26609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generated in a few seconds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7827264" y="2057400"/>
            <a:ext cx="2944368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046720" y="2368296"/>
            <a:ext cx="502920" cy="50292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2494026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23376" y="23134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Languages</a:t>
            </a:r>
            <a:endParaRPr lang="en-US" sz="1370" dirty="0"/>
          </a:p>
        </p:txBody>
      </p:sp>
      <p:sp>
        <p:nvSpPr>
          <p:cNvPr id="27" name="Text 22"/>
          <p:cNvSpPr/>
          <p:nvPr/>
        </p:nvSpPr>
        <p:spPr>
          <a:xfrm>
            <a:off x="8723376" y="26609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popular programming languages</a:t>
            </a:r>
            <a:endParaRPr lang="en-US" sz="1020" dirty="0"/>
          </a:p>
        </p:txBody>
      </p:sp>
      <p:sp>
        <p:nvSpPr>
          <p:cNvPr id="28" name="Shape 23"/>
          <p:cNvSpPr/>
          <p:nvPr/>
        </p:nvSpPr>
        <p:spPr>
          <a:xfrm>
            <a:off x="713232" y="3794760"/>
            <a:ext cx="2944368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32688" y="4105656"/>
            <a:ext cx="502920" cy="50292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418" y="4231386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609344" y="4050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Fixing</a:t>
            </a:r>
            <a:endParaRPr lang="en-US" sz="1370" dirty="0"/>
          </a:p>
        </p:txBody>
      </p:sp>
      <p:sp>
        <p:nvSpPr>
          <p:cNvPr id="32" name="Text 26"/>
          <p:cNvSpPr/>
          <p:nvPr/>
        </p:nvSpPr>
        <p:spPr>
          <a:xfrm>
            <a:off x="1609344" y="4398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or improve code suggestions</a:t>
            </a:r>
            <a:endParaRPr lang="en-US" sz="1020" dirty="0"/>
          </a:p>
        </p:txBody>
      </p:sp>
      <p:sp>
        <p:nvSpPr>
          <p:cNvPr id="33" name="Shape 27"/>
          <p:cNvSpPr/>
          <p:nvPr/>
        </p:nvSpPr>
        <p:spPr>
          <a:xfrm>
            <a:off x="4270248" y="3794760"/>
            <a:ext cx="2944368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489704" y="4105656"/>
            <a:ext cx="502920" cy="50292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5434" y="4231386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66360" y="4050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Score</a:t>
            </a:r>
            <a:endParaRPr lang="en-US" sz="1370" dirty="0"/>
          </a:p>
        </p:txBody>
      </p:sp>
      <p:sp>
        <p:nvSpPr>
          <p:cNvPr id="37" name="Text 30"/>
          <p:cNvSpPr/>
          <p:nvPr/>
        </p:nvSpPr>
        <p:spPr>
          <a:xfrm>
            <a:off x="5166360" y="4398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rating with issue breakdown</a:t>
            </a:r>
            <a:endParaRPr lang="en-US" sz="1020" dirty="0"/>
          </a:p>
        </p:txBody>
      </p:sp>
      <p:sp>
        <p:nvSpPr>
          <p:cNvPr id="38" name="Shape 31"/>
          <p:cNvSpPr/>
          <p:nvPr/>
        </p:nvSpPr>
        <p:spPr>
          <a:xfrm>
            <a:off x="7827264" y="3794760"/>
            <a:ext cx="2944368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8046720" y="4105656"/>
            <a:ext cx="502920" cy="50292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2450" y="4231386"/>
            <a:ext cx="251460" cy="2514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723376" y="4050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UI</a:t>
            </a:r>
            <a:endParaRPr lang="en-US" sz="1370" dirty="0"/>
          </a:p>
        </p:txBody>
      </p:sp>
      <p:sp>
        <p:nvSpPr>
          <p:cNvPr id="42" name="Text 34"/>
          <p:cNvSpPr/>
          <p:nvPr/>
        </p:nvSpPr>
        <p:spPr>
          <a:xfrm>
            <a:off x="8723376" y="4398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interface built for beginners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7007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is designed to be simple: write code, run AI analysis, read the report.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32688" y="1901952"/>
            <a:ext cx="10332720" cy="2697480"/>
          </a:xfrm>
          <a:prstGeom prst="roundRect">
            <a:avLst>
              <a:gd name="adj" fmla="val 4068"/>
            </a:avLst>
          </a:prstGeom>
          <a:solidFill>
            <a:srgbClr val="1B1C24">
              <a:alpha val="98000"/>
            </a:srgbClr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/data/codesage-ppt/img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057400"/>
            <a:ext cx="4069080" cy="226771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41248" y="4892040"/>
            <a:ext cx="3154680" cy="786384"/>
          </a:xfrm>
          <a:prstGeom prst="roundRect">
            <a:avLst>
              <a:gd name="adj" fmla="val 13953"/>
            </a:avLst>
          </a:prstGeom>
          <a:solidFill>
            <a:srgbClr val="272835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05840" y="5074920"/>
            <a:ext cx="438912" cy="43891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18464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91056" y="50109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828800" y="49651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Code</a:t>
            </a:r>
            <a:endParaRPr lang="en-US" sz="1220" dirty="0"/>
          </a:p>
        </p:txBody>
      </p:sp>
      <p:sp>
        <p:nvSpPr>
          <p:cNvPr id="20" name="Text 16"/>
          <p:cNvSpPr/>
          <p:nvPr/>
        </p:nvSpPr>
        <p:spPr>
          <a:xfrm>
            <a:off x="1591056" y="5257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code or write directly in the editor.</a:t>
            </a:r>
            <a:endParaRPr lang="en-US" sz="870" dirty="0"/>
          </a:p>
        </p:txBody>
      </p:sp>
      <p:sp>
        <p:nvSpPr>
          <p:cNvPr id="21" name="Shape 17"/>
          <p:cNvSpPr/>
          <p:nvPr/>
        </p:nvSpPr>
        <p:spPr>
          <a:xfrm>
            <a:off x="4270248" y="4892040"/>
            <a:ext cx="3154680" cy="786384"/>
          </a:xfrm>
          <a:prstGeom prst="roundRect">
            <a:avLst>
              <a:gd name="adj" fmla="val 13953"/>
            </a:avLst>
          </a:prstGeom>
          <a:solidFill>
            <a:srgbClr val="272835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434840" y="5074920"/>
            <a:ext cx="438912" cy="43891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5184648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0056" y="50109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257800" y="49651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Analysis</a:t>
            </a:r>
            <a:endParaRPr lang="en-US" sz="1220" dirty="0"/>
          </a:p>
        </p:txBody>
      </p:sp>
      <p:sp>
        <p:nvSpPr>
          <p:cNvPr id="26" name="Text 21"/>
          <p:cNvSpPr/>
          <p:nvPr/>
        </p:nvSpPr>
        <p:spPr>
          <a:xfrm>
            <a:off x="5020056" y="5257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analyze quality, bugs, and improvements.</a:t>
            </a:r>
            <a:endParaRPr lang="en-US" sz="870" dirty="0"/>
          </a:p>
        </p:txBody>
      </p:sp>
      <p:sp>
        <p:nvSpPr>
          <p:cNvPr id="27" name="Shape 22"/>
          <p:cNvSpPr/>
          <p:nvPr/>
        </p:nvSpPr>
        <p:spPr>
          <a:xfrm>
            <a:off x="7699248" y="4892040"/>
            <a:ext cx="3154680" cy="786384"/>
          </a:xfrm>
          <a:prstGeom prst="roundRect">
            <a:avLst>
              <a:gd name="adj" fmla="val 13953"/>
            </a:avLst>
          </a:prstGeom>
          <a:solidFill>
            <a:srgbClr val="272835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7863840" y="5074920"/>
            <a:ext cx="438912" cy="43891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5184648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49056" y="50109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686800" y="49651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Results</a:t>
            </a:r>
            <a:endParaRPr lang="en-US" sz="1220" dirty="0"/>
          </a:p>
        </p:txBody>
      </p:sp>
      <p:sp>
        <p:nvSpPr>
          <p:cNvPr id="32" name="Text 26"/>
          <p:cNvSpPr/>
          <p:nvPr/>
        </p:nvSpPr>
        <p:spPr>
          <a:xfrm>
            <a:off x="8449056" y="5257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score, issues, and suggested fixes.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AI Agents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56895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focused role, which makes the final review more complete and useful.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029968"/>
            <a:ext cx="5074920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029968"/>
            <a:ext cx="73152" cy="1234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0704" y="2350008"/>
            <a:ext cx="585216" cy="585216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49631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87452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Agent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1874520" y="26700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structure, readability, and overall quality score.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6309360" y="2029968"/>
            <a:ext cx="5074920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09360" y="2029968"/>
            <a:ext cx="73152" cy="1234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638544" y="2350008"/>
            <a:ext cx="585216" cy="585216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49631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5236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Bugs Agent</a:t>
            </a:r>
            <a:endParaRPr lang="en-US" sz="1520" dirty="0"/>
          </a:p>
        </p:txBody>
      </p:sp>
      <p:sp>
        <p:nvSpPr>
          <p:cNvPr id="24" name="Text 20"/>
          <p:cNvSpPr/>
          <p:nvPr/>
        </p:nvSpPr>
        <p:spPr>
          <a:xfrm>
            <a:off x="7452360" y="26700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possible bugs, unsafe patterns, and vulnerabilities.</a:t>
            </a:r>
            <a:endParaRPr lang="en-US" sz="1090" dirty="0"/>
          </a:p>
        </p:txBody>
      </p:sp>
      <p:sp>
        <p:nvSpPr>
          <p:cNvPr id="25" name="Shape 21"/>
          <p:cNvSpPr/>
          <p:nvPr/>
        </p:nvSpPr>
        <p:spPr>
          <a:xfrm>
            <a:off x="731520" y="3703320"/>
            <a:ext cx="5074920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31520" y="3703320"/>
            <a:ext cx="73152" cy="1234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1060704" y="4023360"/>
            <a:ext cx="585216" cy="585216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4169664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874520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Refactoring Agent</a:t>
            </a:r>
            <a:endParaRPr lang="en-US" sz="1520" dirty="0"/>
          </a:p>
        </p:txBody>
      </p:sp>
      <p:sp>
        <p:nvSpPr>
          <p:cNvPr id="30" name="Text 25"/>
          <p:cNvSpPr/>
          <p:nvPr/>
        </p:nvSpPr>
        <p:spPr>
          <a:xfrm>
            <a:off x="1874520" y="4343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cleaner, faster, and more maintainable code.</a:t>
            </a:r>
            <a:endParaRPr lang="en-US" sz="1090" dirty="0"/>
          </a:p>
        </p:txBody>
      </p:sp>
      <p:sp>
        <p:nvSpPr>
          <p:cNvPr id="31" name="Shape 26"/>
          <p:cNvSpPr/>
          <p:nvPr/>
        </p:nvSpPr>
        <p:spPr>
          <a:xfrm>
            <a:off x="6309360" y="3703320"/>
            <a:ext cx="5074920" cy="123444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309360" y="3703320"/>
            <a:ext cx="73152" cy="1234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638544" y="4023360"/>
            <a:ext cx="585216" cy="585216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4169664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52360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Agent</a:t>
            </a:r>
            <a:endParaRPr lang="en-US" sz="1520" dirty="0"/>
          </a:p>
        </p:txBody>
      </p:sp>
      <p:sp>
        <p:nvSpPr>
          <p:cNvPr id="36" name="Text 30"/>
          <p:cNvSpPr/>
          <p:nvPr/>
        </p:nvSpPr>
        <p:spPr>
          <a:xfrm>
            <a:off x="7452360" y="4343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explanations and documentation for functions.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7007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JavaScript stack connecting a React front-end with AI-powered backend services.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32688" y="2240280"/>
            <a:ext cx="2148840" cy="2514600"/>
          </a:xfrm>
          <a:prstGeom prst="roundRect">
            <a:avLst>
              <a:gd name="adj" fmla="val 5106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91056" y="2606040"/>
            <a:ext cx="822960" cy="822960"/>
          </a:xfrm>
          <a:prstGeom prst="ellipse">
            <a:avLst/>
          </a:prstGeom>
          <a:solidFill>
            <a:srgbClr val="22232D"/>
          </a:solidFill>
          <a:ln w="1524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282549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972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88720" y="41330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UI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3675888" y="2240280"/>
            <a:ext cx="2148840" cy="2514600"/>
          </a:xfrm>
          <a:prstGeom prst="roundRect">
            <a:avLst>
              <a:gd name="adj" fmla="val 5106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34256" y="2606040"/>
            <a:ext cx="822960" cy="822960"/>
          </a:xfrm>
          <a:prstGeom prst="ellipse">
            <a:avLst/>
          </a:prstGeom>
          <a:solidFill>
            <a:srgbClr val="22232D"/>
          </a:solidFill>
          <a:ln w="1524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825496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8404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Monaco Editor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931920" y="41330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editing experience</a:t>
            </a:r>
            <a:endParaRPr lang="en-US" sz="1030" dirty="0"/>
          </a:p>
        </p:txBody>
      </p:sp>
      <p:sp>
        <p:nvSpPr>
          <p:cNvPr id="23" name="Shape 19"/>
          <p:cNvSpPr/>
          <p:nvPr/>
        </p:nvSpPr>
        <p:spPr>
          <a:xfrm>
            <a:off x="6419088" y="2240280"/>
            <a:ext cx="2148840" cy="2514600"/>
          </a:xfrm>
          <a:prstGeom prst="roundRect">
            <a:avLst>
              <a:gd name="adj" fmla="val 5106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077456" y="2606040"/>
            <a:ext cx="822960" cy="822960"/>
          </a:xfrm>
          <a:prstGeom prst="ellipse">
            <a:avLst/>
          </a:prstGeom>
          <a:solidFill>
            <a:srgbClr val="22232D"/>
          </a:solidFill>
          <a:ln w="1524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825496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+ Express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675120" y="41330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REST API</a:t>
            </a:r>
            <a:endParaRPr lang="en-US" sz="1030" dirty="0"/>
          </a:p>
        </p:txBody>
      </p:sp>
      <p:sp>
        <p:nvSpPr>
          <p:cNvPr id="28" name="Shape 23"/>
          <p:cNvSpPr/>
          <p:nvPr/>
        </p:nvSpPr>
        <p:spPr>
          <a:xfrm>
            <a:off x="9162288" y="2240280"/>
            <a:ext cx="2148840" cy="2514600"/>
          </a:xfrm>
          <a:prstGeom prst="roundRect">
            <a:avLst>
              <a:gd name="adj" fmla="val 5106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820656" y="2606040"/>
            <a:ext cx="822960" cy="822960"/>
          </a:xfrm>
          <a:prstGeom prst="ellipse">
            <a:avLst/>
          </a:prstGeom>
          <a:solidFill>
            <a:srgbClr val="22232D"/>
          </a:solidFill>
          <a:ln w="1524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2825496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268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AI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418320" y="41330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integration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52704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useful for people who need fast feedback and clear learning guidance.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37960" y="1874520"/>
            <a:ext cx="4526280" cy="2606040"/>
          </a:xfrm>
          <a:prstGeom prst="roundRect">
            <a:avLst>
              <a:gd name="adj" fmla="val 4211"/>
            </a:avLst>
          </a:prstGeom>
          <a:solidFill>
            <a:srgbClr val="1B1C24">
              <a:alpha val="98000"/>
            </a:srgbClr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/data/codesage-ppt/img/audi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48840"/>
            <a:ext cx="3977640" cy="216712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77240" y="1874520"/>
            <a:ext cx="4892040" cy="621792"/>
          </a:xfrm>
          <a:prstGeom prst="roundRect">
            <a:avLst>
              <a:gd name="adj" fmla="val 17647"/>
            </a:avLst>
          </a:prstGeom>
          <a:solidFill>
            <a:srgbClr val="272835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60120" y="1984248"/>
            <a:ext cx="402336" cy="402336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2084832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1993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 Students &amp; Beginners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1554480" y="22311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cleaner code through instant feedback.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77240" y="2679192"/>
            <a:ext cx="4892040" cy="621792"/>
          </a:xfrm>
          <a:prstGeom prst="roundRect">
            <a:avLst>
              <a:gd name="adj" fmla="val 17647"/>
            </a:avLst>
          </a:prstGeom>
          <a:solidFill>
            <a:srgbClr val="272835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60120" y="2788920"/>
            <a:ext cx="402336" cy="402336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2889504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27980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Developers</a:t>
            </a:r>
            <a:endParaRPr lang="en-US" sz="1180" dirty="0"/>
          </a:p>
        </p:txBody>
      </p:sp>
      <p:sp>
        <p:nvSpPr>
          <p:cNvPr id="24" name="Text 19"/>
          <p:cNvSpPr/>
          <p:nvPr/>
        </p:nvSpPr>
        <p:spPr>
          <a:xfrm>
            <a:off x="1554480" y="3035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shipping or committing.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777240" y="3483864"/>
            <a:ext cx="4892040" cy="621792"/>
          </a:xfrm>
          <a:prstGeom prst="roundRect">
            <a:avLst>
              <a:gd name="adj" fmla="val 17647"/>
            </a:avLst>
          </a:prstGeom>
          <a:solidFill>
            <a:srgbClr val="272835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60120" y="3593592"/>
            <a:ext cx="402336" cy="402336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69417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3602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Teams</a:t>
            </a:r>
            <a:endParaRPr lang="en-US" sz="1180" dirty="0"/>
          </a:p>
        </p:txBody>
      </p:sp>
      <p:sp>
        <p:nvSpPr>
          <p:cNvPr id="29" name="Text 23"/>
          <p:cNvSpPr/>
          <p:nvPr/>
        </p:nvSpPr>
        <p:spPr>
          <a:xfrm>
            <a:off x="1554480" y="38404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reviews without bottlenecks.</a:t>
            </a:r>
            <a:endParaRPr lang="en-US" sz="860" dirty="0"/>
          </a:p>
        </p:txBody>
      </p:sp>
      <p:sp>
        <p:nvSpPr>
          <p:cNvPr id="30" name="Shape 24"/>
          <p:cNvSpPr/>
          <p:nvPr/>
        </p:nvSpPr>
        <p:spPr>
          <a:xfrm>
            <a:off x="777240" y="4288536"/>
            <a:ext cx="4892040" cy="621792"/>
          </a:xfrm>
          <a:prstGeom prst="roundRect">
            <a:avLst>
              <a:gd name="adj" fmla="val 17647"/>
            </a:avLst>
          </a:prstGeom>
          <a:solidFill>
            <a:srgbClr val="272835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5"/>
          <p:cNvSpPr/>
          <p:nvPr/>
        </p:nvSpPr>
        <p:spPr>
          <a:xfrm>
            <a:off x="960120" y="4398264"/>
            <a:ext cx="402336" cy="402336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4498848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54480" y="4407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Educators</a:t>
            </a:r>
            <a:endParaRPr lang="en-US" sz="1180" dirty="0"/>
          </a:p>
        </p:txBody>
      </p:sp>
      <p:sp>
        <p:nvSpPr>
          <p:cNvPr id="34" name="Text 27"/>
          <p:cNvSpPr/>
          <p:nvPr/>
        </p:nvSpPr>
        <p:spPr>
          <a:xfrm>
            <a:off x="1554480" y="4645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best practices and coding habits.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CodeSage AI?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60020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not only a code checker — it is a learning assistant and productivity tool.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1993392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2286000"/>
            <a:ext cx="566928" cy="566928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2427732"/>
            <a:ext cx="283464" cy="2834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20240" y="22494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Saves Time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920240" y="26334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review cycles and reduces manual waiting.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6263640" y="1993392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412" y="2427732"/>
            <a:ext cx="283464" cy="2834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22494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While Coding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406640" y="26334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each issue matters.</a:t>
            </a:r>
            <a:endParaRPr lang="en-US" sz="1040" dirty="0"/>
          </a:p>
        </p:txBody>
      </p:sp>
      <p:sp>
        <p:nvSpPr>
          <p:cNvPr id="23" name="Shape 19"/>
          <p:cNvSpPr/>
          <p:nvPr/>
        </p:nvSpPr>
        <p:spPr>
          <a:xfrm>
            <a:off x="777240" y="3657600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1097280" y="3950208"/>
            <a:ext cx="566928" cy="566928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012" y="4091940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920240" y="39136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Available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920240" y="42976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anytime without needing a reviewer.</a:t>
            </a:r>
            <a:endParaRPr lang="en-US" sz="1040" dirty="0"/>
          </a:p>
        </p:txBody>
      </p:sp>
      <p:sp>
        <p:nvSpPr>
          <p:cNvPr id="28" name="Shape 23"/>
          <p:cNvSpPr/>
          <p:nvPr/>
        </p:nvSpPr>
        <p:spPr>
          <a:xfrm>
            <a:off x="6263640" y="3657600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583680" y="3950208"/>
            <a:ext cx="566928" cy="566928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412" y="4091940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06640" y="39136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Perspectives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406640" y="42976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quality, bugs, refactoring, and docs.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02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7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OWNERSHIP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841248"/>
            <a:ext cx="502920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17007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 owned a clear part of the project, from UI screens to backend and settings.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37392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0120" y="2331720"/>
            <a:ext cx="10241280" cy="566928"/>
          </a:xfrm>
          <a:prstGeom prst="roundRect">
            <a:avLst>
              <a:gd name="adj" fmla="val 19355"/>
            </a:avLst>
          </a:prstGeom>
          <a:solidFill>
            <a:srgbClr val="22232D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70432" y="2432304"/>
            <a:ext cx="365760" cy="36576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523744"/>
            <a:ext cx="182880" cy="18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7360" y="24505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Ahmed Abdelsalam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4572000" y="2450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03720" y="24505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Page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60120" y="3063240"/>
            <a:ext cx="10241280" cy="566928"/>
          </a:xfrm>
          <a:prstGeom prst="roundRect">
            <a:avLst>
              <a:gd name="adj" fmla="val 19355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170432" y="3163824"/>
            <a:ext cx="365760" cy="36576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3255264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737360" y="31821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Ramez Samy</a:t>
            </a:r>
            <a:endParaRPr lang="en-US" sz="1160" dirty="0"/>
          </a:p>
        </p:txBody>
      </p:sp>
      <p:sp>
        <p:nvSpPr>
          <p:cNvPr id="23" name="Text 19"/>
          <p:cNvSpPr/>
          <p:nvPr/>
        </p:nvSpPr>
        <p:spPr>
          <a:xfrm>
            <a:off x="4572000" y="3182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903720" y="31821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960120" y="3794760"/>
            <a:ext cx="10241280" cy="566928"/>
          </a:xfrm>
          <a:prstGeom prst="roundRect">
            <a:avLst>
              <a:gd name="adj" fmla="val 19355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1170432" y="3895344"/>
            <a:ext cx="365760" cy="36576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3986784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737360" y="3913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Fathy Ahmed</a:t>
            </a:r>
            <a:endParaRPr lang="en-US" sz="1160" dirty="0"/>
          </a:p>
        </p:txBody>
      </p:sp>
      <p:sp>
        <p:nvSpPr>
          <p:cNvPr id="29" name="Text 24"/>
          <p:cNvSpPr/>
          <p:nvPr/>
        </p:nvSpPr>
        <p:spPr>
          <a:xfrm>
            <a:off x="4572000" y="39136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903720" y="391363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&amp; Dashboard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960120" y="4526280"/>
            <a:ext cx="10241280" cy="566928"/>
          </a:xfrm>
          <a:prstGeom prst="roundRect">
            <a:avLst>
              <a:gd name="adj" fmla="val 19355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1170432" y="4626864"/>
            <a:ext cx="365760" cy="36576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4718304"/>
            <a:ext cx="182880" cy="1828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737360" y="4645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Yousef Maged</a:t>
            </a:r>
            <a:endParaRPr lang="en-US" sz="1160" dirty="0"/>
          </a:p>
        </p:txBody>
      </p:sp>
      <p:sp>
        <p:nvSpPr>
          <p:cNvPr id="35" name="Text 29"/>
          <p:cNvSpPr/>
          <p:nvPr/>
        </p:nvSpPr>
        <p:spPr>
          <a:xfrm>
            <a:off x="4572000" y="4645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903720" y="46451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Authentication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960120" y="5257800"/>
            <a:ext cx="10241280" cy="566928"/>
          </a:xfrm>
          <a:prstGeom prst="roundRect">
            <a:avLst>
              <a:gd name="adj" fmla="val 19355"/>
            </a:avLst>
          </a:prstGeom>
          <a:solidFill>
            <a:srgbClr val="1F2028"/>
          </a:solidFill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1170432" y="5358384"/>
            <a:ext cx="365760" cy="365760"/>
          </a:xfrm>
          <a:prstGeom prst="ellipse">
            <a:avLst/>
          </a:prstGeom>
          <a:solidFill>
            <a:srgbClr val="22232D"/>
          </a:solidFill>
          <a:ln w="13970">
            <a:solidFill>
              <a:srgbClr val="C084F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872" y="5449824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737360" y="53766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Kermina Kirollos</a:t>
            </a:r>
            <a:endParaRPr lang="en-US" sz="1160" dirty="0"/>
          </a:p>
        </p:txBody>
      </p:sp>
      <p:sp>
        <p:nvSpPr>
          <p:cNvPr id="41" name="Text 34"/>
          <p:cNvSpPr/>
          <p:nvPr/>
        </p:nvSpPr>
        <p:spPr>
          <a:xfrm>
            <a:off x="4572000" y="53766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6903720" y="537667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Languages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1737360" y="2011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4572000" y="2011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6903720" y="201168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1403" y="0"/>
            <a:ext cx="50292" cy="6858000"/>
          </a:xfrm>
          <a:prstGeom prst="rect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-1234440"/>
            <a:ext cx="3108960" cy="3108960"/>
          </a:xfrm>
          <a:prstGeom prst="arc">
            <a:avLst/>
          </a:prstGeom>
          <a:noFill/>
          <a:ln w="25400">
            <a:solidFill>
              <a:srgbClr val="C084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280160" y="5257800"/>
            <a:ext cx="2743200" cy="2743200"/>
          </a:xfrm>
          <a:prstGeom prst="arc">
            <a:avLst/>
          </a:prstGeom>
          <a:noFill/>
          <a:ln w="254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1234440"/>
            <a:ext cx="8503920" cy="4069080"/>
          </a:xfrm>
          <a:prstGeom prst="roundRect">
            <a:avLst>
              <a:gd name="adj" fmla="val 2697"/>
            </a:avLst>
          </a:prstGeom>
          <a:solidFill>
            <a:srgbClr val="15161D"/>
          </a:solidFill>
          <a:ln w="12700">
            <a:solidFill>
              <a:srgbClr val="2E303A"/>
            </a:solidFill>
            <a:prstDash val="solid"/>
          </a:ln>
          <a:effectLst>
            <a:outerShdw blurRad="27940" dist="21590" dir="27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755648"/>
            <a:ext cx="1051560" cy="1051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94436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828800" y="37673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E9D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CodeSage AI — Review your code, the smart way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60520" y="4343400"/>
            <a:ext cx="3886200" cy="0"/>
          </a:xfrm>
          <a:prstGeom prst="line">
            <a:avLst/>
          </a:prstGeom>
          <a:noFill/>
          <a:ln w="12700">
            <a:solidFill>
              <a:srgbClr val="2E3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28800" y="45720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658</Words>
  <Application>Microsoft Office PowerPoint</Application>
  <PresentationFormat>Widescreen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CodeSage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CodeSage AI Professional Presentation</dc:title>
  <dc:subject>AI-Powered Code Review Assistant</dc:subject>
  <dc:creator>Ahmed Abdelsalam</dc:creator>
  <cp:lastModifiedBy>Ahmed Abdelsalam</cp:lastModifiedBy>
  <cp:revision>3</cp:revision>
  <dcterms:created xsi:type="dcterms:W3CDTF">2026-06-24T15:51:52Z</dcterms:created>
  <dcterms:modified xsi:type="dcterms:W3CDTF">2026-06-24T15:58:07Z</dcterms:modified>
</cp:coreProperties>
</file>